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172033">
                <a:alpha val="7000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4592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4592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4592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4592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4592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8600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8600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8600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2608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2608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2608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2608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2608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92608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2608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2608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92608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56616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6616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56616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6616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56616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56616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56616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6616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56616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56616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20624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0624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0624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20624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20624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20624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20624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20624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20624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20624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4632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84632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84632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84632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84632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84632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84632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84632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84632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84632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48640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48640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48640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48640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48640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48640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48640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48640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48640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48640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12648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12648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12648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12648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12648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12648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12648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12648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12648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12648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76656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76656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76656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76656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76656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76656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76656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76656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76656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40664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40664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40664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40664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40664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40664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0664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0664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40664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40664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04672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04672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04672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04672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04672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04672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04672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04672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04672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04672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68680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68680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68680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68680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68680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68680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68680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68680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68680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68680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32688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32688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32688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32688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932688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932688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32688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32688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32688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32688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996696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96696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96696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96696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996696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996696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96696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96696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996696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96696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060704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060704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060704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60704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060704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60704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060704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60704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060704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060704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124712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124712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124712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124712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124712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124712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124712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124712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124712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124712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188720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188720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1188720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188720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188720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188720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188720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188720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188720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188720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pic>
        <p:nvPicPr>
          <p:cNvPr id="192" name="Image 0" descr="/tmp/reiops-demo-public/public/brand/reiops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0896"/>
            <a:ext cx="347472" cy="347472"/>
          </a:xfrm>
          <a:prstGeom prst="rect">
            <a:avLst/>
          </a:prstGeom>
        </p:spPr>
      </p:pic>
      <p:sp>
        <p:nvSpPr>
          <p:cNvPr id="193" name="Text 190"/>
          <p:cNvSpPr/>
          <p:nvPr/>
        </p:nvSpPr>
        <p:spPr>
          <a:xfrm>
            <a:off x="960120" y="338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ReiOps</a:t>
            </a:r>
            <a:endParaRPr lang="en-US" sz="1500" dirty="0"/>
          </a:p>
        </p:txBody>
      </p:sp>
      <p:sp>
        <p:nvSpPr>
          <p:cNvPr id="194" name="Shape 191"/>
          <p:cNvSpPr/>
          <p:nvPr/>
        </p:nvSpPr>
        <p:spPr>
          <a:xfrm>
            <a:off x="612648" y="1097280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195" name="Text 192"/>
          <p:cNvSpPr/>
          <p:nvPr/>
        </p:nvSpPr>
        <p:spPr>
          <a:xfrm>
            <a:off x="731520" y="1175004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2D3EE"/>
                </a:solidFill>
              </a:rPr>
              <a:t>AI AGENT OPERATIONS</a:t>
            </a:r>
            <a:endParaRPr lang="en-US" sz="850" dirty="0"/>
          </a:p>
        </p:txBody>
      </p:sp>
      <p:sp>
        <p:nvSpPr>
          <p:cNvPr id="196" name="Text 193"/>
          <p:cNvSpPr/>
          <p:nvPr/>
        </p:nvSpPr>
        <p:spPr>
          <a:xfrm>
            <a:off x="594360" y="1572768"/>
            <a:ext cx="7406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Business-ready AI agents need a trust layer.</a:t>
            </a:r>
            <a:endParaRPr lang="en-US" sz="4000" dirty="0"/>
          </a:p>
        </p:txBody>
      </p:sp>
      <p:sp>
        <p:nvSpPr>
          <p:cNvPr id="197" name="Text 194"/>
          <p:cNvSpPr/>
          <p:nvPr/>
        </p:nvSpPr>
        <p:spPr>
          <a:xfrm>
            <a:off x="640080" y="3090672"/>
            <a:ext cx="5577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ReiOps turns raw agents into managed workflows with secure sandboxes, approval gates, live traces, audit logs, and Telegram operator control.</a:t>
            </a:r>
            <a:endParaRPr lang="en-US" sz="1500" dirty="0"/>
          </a:p>
        </p:txBody>
      </p:sp>
      <p:sp>
        <p:nvSpPr>
          <p:cNvPr id="198" name="Shape 195"/>
          <p:cNvSpPr/>
          <p:nvPr/>
        </p:nvSpPr>
        <p:spPr>
          <a:xfrm>
            <a:off x="7543800" y="1078992"/>
            <a:ext cx="3977640" cy="4434840"/>
          </a:xfrm>
          <a:prstGeom prst="roundRect">
            <a:avLst>
              <a:gd name="adj" fmla="val 3678"/>
            </a:avLst>
          </a:prstGeom>
          <a:solidFill>
            <a:srgbClr val="07111C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99" name="Text 196"/>
          <p:cNvSpPr/>
          <p:nvPr/>
        </p:nvSpPr>
        <p:spPr>
          <a:xfrm>
            <a:off x="7882128" y="14264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ReiOps Control Plane</a:t>
            </a:r>
            <a:endParaRPr lang="en-US" sz="1600" dirty="0"/>
          </a:p>
        </p:txBody>
      </p:sp>
      <p:sp>
        <p:nvSpPr>
          <p:cNvPr id="200" name="Shape 197"/>
          <p:cNvSpPr/>
          <p:nvPr/>
        </p:nvSpPr>
        <p:spPr>
          <a:xfrm>
            <a:off x="8229600" y="2148840"/>
            <a:ext cx="1115568" cy="530352"/>
          </a:xfrm>
          <a:prstGeom prst="roundRect">
            <a:avLst>
              <a:gd name="adj" fmla="val 27586"/>
            </a:avLst>
          </a:prstGeom>
          <a:solidFill>
            <a:srgbClr val="0B162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1" name="Text 198"/>
          <p:cNvSpPr/>
          <p:nvPr/>
        </p:nvSpPr>
        <p:spPr>
          <a:xfrm>
            <a:off x="8302752" y="2331720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Sandbox</a:t>
            </a:r>
            <a:endParaRPr lang="en-US" sz="850" dirty="0"/>
          </a:p>
        </p:txBody>
      </p:sp>
      <p:sp>
        <p:nvSpPr>
          <p:cNvPr id="202" name="Shape 199"/>
          <p:cNvSpPr/>
          <p:nvPr/>
        </p:nvSpPr>
        <p:spPr>
          <a:xfrm>
            <a:off x="9966960" y="1874520"/>
            <a:ext cx="1115568" cy="530352"/>
          </a:xfrm>
          <a:prstGeom prst="roundRect">
            <a:avLst>
              <a:gd name="adj" fmla="val 27586"/>
            </a:avLst>
          </a:prstGeom>
          <a:solidFill>
            <a:srgbClr val="0B162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3" name="Text 200"/>
          <p:cNvSpPr/>
          <p:nvPr/>
        </p:nvSpPr>
        <p:spPr>
          <a:xfrm>
            <a:off x="10040112" y="2057400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Trace</a:t>
            </a:r>
            <a:endParaRPr lang="en-US" sz="850" dirty="0"/>
          </a:p>
        </p:txBody>
      </p:sp>
      <p:sp>
        <p:nvSpPr>
          <p:cNvPr id="204" name="Shape 201"/>
          <p:cNvSpPr/>
          <p:nvPr/>
        </p:nvSpPr>
        <p:spPr>
          <a:xfrm>
            <a:off x="10287000" y="3246120"/>
            <a:ext cx="1115568" cy="530352"/>
          </a:xfrm>
          <a:prstGeom prst="roundRect">
            <a:avLst>
              <a:gd name="adj" fmla="val 27586"/>
            </a:avLst>
          </a:prstGeom>
          <a:solidFill>
            <a:srgbClr val="10251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5" name="Text 202"/>
          <p:cNvSpPr/>
          <p:nvPr/>
        </p:nvSpPr>
        <p:spPr>
          <a:xfrm>
            <a:off x="10360152" y="3429000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Approve</a:t>
            </a:r>
            <a:endParaRPr lang="en-US" sz="850" dirty="0"/>
          </a:p>
        </p:txBody>
      </p:sp>
      <p:sp>
        <p:nvSpPr>
          <p:cNvPr id="206" name="Shape 203"/>
          <p:cNvSpPr/>
          <p:nvPr/>
        </p:nvSpPr>
        <p:spPr>
          <a:xfrm>
            <a:off x="8641080" y="4160520"/>
            <a:ext cx="1115568" cy="530352"/>
          </a:xfrm>
          <a:prstGeom prst="roundRect">
            <a:avLst>
              <a:gd name="adj" fmla="val 27586"/>
            </a:avLst>
          </a:prstGeom>
          <a:solidFill>
            <a:srgbClr val="0B162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7" name="Text 204"/>
          <p:cNvSpPr/>
          <p:nvPr/>
        </p:nvSpPr>
        <p:spPr>
          <a:xfrm>
            <a:off x="8714232" y="4343400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Audit</a:t>
            </a:r>
            <a:endParaRPr lang="en-US" sz="850" dirty="0"/>
          </a:p>
        </p:txBody>
      </p:sp>
      <p:sp>
        <p:nvSpPr>
          <p:cNvPr id="208" name="Shape 205"/>
          <p:cNvSpPr/>
          <p:nvPr/>
        </p:nvSpPr>
        <p:spPr>
          <a:xfrm>
            <a:off x="8092440" y="3246120"/>
            <a:ext cx="1115568" cy="530352"/>
          </a:xfrm>
          <a:prstGeom prst="roundRect">
            <a:avLst>
              <a:gd name="adj" fmla="val 27586"/>
            </a:avLst>
          </a:prstGeom>
          <a:solidFill>
            <a:srgbClr val="0B162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9" name="Text 206"/>
          <p:cNvSpPr/>
          <p:nvPr/>
        </p:nvSpPr>
        <p:spPr>
          <a:xfrm>
            <a:off x="8165592" y="3429000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Policy</a:t>
            </a:r>
            <a:endParaRPr lang="en-US" sz="850" dirty="0"/>
          </a:p>
        </p:txBody>
      </p:sp>
      <p:sp>
        <p:nvSpPr>
          <p:cNvPr id="210" name="Shape 207"/>
          <p:cNvSpPr/>
          <p:nvPr/>
        </p:nvSpPr>
        <p:spPr>
          <a:xfrm>
            <a:off x="8796528" y="2404872"/>
            <a:ext cx="114300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11" name="Shape 208"/>
          <p:cNvSpPr/>
          <p:nvPr/>
        </p:nvSpPr>
        <p:spPr>
          <a:xfrm>
            <a:off x="9372600" y="2130552"/>
            <a:ext cx="658368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12" name="Shape 209"/>
          <p:cNvSpPr/>
          <p:nvPr/>
        </p:nvSpPr>
        <p:spPr>
          <a:xfrm>
            <a:off x="10012680" y="3493008"/>
            <a:ext cx="-100584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13" name="Shape 210"/>
          <p:cNvSpPr/>
          <p:nvPr/>
        </p:nvSpPr>
        <p:spPr>
          <a:xfrm>
            <a:off x="8641080" y="3822192"/>
            <a:ext cx="-32004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14" name="Text 211"/>
          <p:cNvSpPr/>
          <p:nvPr/>
        </p:nvSpPr>
        <p:spPr>
          <a:xfrm>
            <a:off x="640080" y="541324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Live demo: reiops.xyz/demo</a:t>
            </a:r>
            <a:endParaRPr lang="en-US" sz="1200" dirty="0"/>
          </a:p>
        </p:txBody>
      </p:sp>
      <p:sp>
        <p:nvSpPr>
          <p:cNvPr id="215" name="Text 212"/>
          <p:cNvSpPr/>
          <p:nvPr/>
        </p:nvSpPr>
        <p:spPr>
          <a:xfrm>
            <a:off x="9829800" y="64739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reiops.xyz  •  1/8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4592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4592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4592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4592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4592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8600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8600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8600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2608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2608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2608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2608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2608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92608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2608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2608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92608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56616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6616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56616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6616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56616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56616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56616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6616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56616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56616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20624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0624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0624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20624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20624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20624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20624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20624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20624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20624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4632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84632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84632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84632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84632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84632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84632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84632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84632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84632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48640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48640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48640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48640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48640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48640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48640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48640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48640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48640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12648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12648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12648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12648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12648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12648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12648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12648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12648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12648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76656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76656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76656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76656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76656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76656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76656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76656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76656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40664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40664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40664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40664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40664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40664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0664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0664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40664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40664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04672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04672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04672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04672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04672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04672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04672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04672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04672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04672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68680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68680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68680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68680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68680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68680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68680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68680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68680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68680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32688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32688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32688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32688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932688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932688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32688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32688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32688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32688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996696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96696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96696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96696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996696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996696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96696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96696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996696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96696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060704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060704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060704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60704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060704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60704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060704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60704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060704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060704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124712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124712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124712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124712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124712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124712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124712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124712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124712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124712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188720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188720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1188720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188720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188720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188720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188720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188720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188720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188720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pic>
        <p:nvPicPr>
          <p:cNvPr id="192" name="Image 0" descr="/tmp/reiops-demo-public/public/brand/reiops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0896"/>
            <a:ext cx="347472" cy="347472"/>
          </a:xfrm>
          <a:prstGeom prst="rect">
            <a:avLst/>
          </a:prstGeom>
        </p:spPr>
      </p:pic>
      <p:sp>
        <p:nvSpPr>
          <p:cNvPr id="193" name="Text 190"/>
          <p:cNvSpPr/>
          <p:nvPr/>
        </p:nvSpPr>
        <p:spPr>
          <a:xfrm>
            <a:off x="960120" y="338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ReiOps</a:t>
            </a:r>
            <a:endParaRPr lang="en-US" sz="1500" dirty="0"/>
          </a:p>
        </p:txBody>
      </p:sp>
      <p:sp>
        <p:nvSpPr>
          <p:cNvPr id="194" name="Text 191"/>
          <p:cNvSpPr/>
          <p:nvPr/>
        </p:nvSpPr>
        <p:spPr>
          <a:xfrm>
            <a:off x="594360" y="71323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problem: agents are cheap, trust is scarce.</a:t>
            </a:r>
            <a:endParaRPr lang="en-US" sz="3000" dirty="0"/>
          </a:p>
        </p:txBody>
      </p:sp>
      <p:sp>
        <p:nvSpPr>
          <p:cNvPr id="195" name="Text 192"/>
          <p:cNvSpPr/>
          <p:nvPr/>
        </p:nvSpPr>
        <p:spPr>
          <a:xfrm>
            <a:off x="612648" y="135331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Businesses do not lack access to AI agents. They lack safe operational control.</a:t>
            </a:r>
            <a:endParaRPr lang="en-US" sz="1200" dirty="0"/>
          </a:p>
        </p:txBody>
      </p:sp>
      <p:sp>
        <p:nvSpPr>
          <p:cNvPr id="196" name="Shape 193"/>
          <p:cNvSpPr/>
          <p:nvPr/>
        </p:nvSpPr>
        <p:spPr>
          <a:xfrm>
            <a:off x="658368" y="1993392"/>
            <a:ext cx="3401568" cy="1417320"/>
          </a:xfrm>
          <a:prstGeom prst="roundRect">
            <a:avLst>
              <a:gd name="adj" fmla="val 10323"/>
            </a:avLst>
          </a:prstGeom>
          <a:solidFill>
            <a:srgbClr val="0B0F14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859536" y="219456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8" name="Text 195"/>
          <p:cNvSpPr/>
          <p:nvPr/>
        </p:nvSpPr>
        <p:spPr>
          <a:xfrm>
            <a:off x="1225296" y="21762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Raw agents get broad access</a:t>
            </a:r>
            <a:endParaRPr lang="en-US" sz="1350" dirty="0"/>
          </a:p>
        </p:txBody>
      </p:sp>
      <p:sp>
        <p:nvSpPr>
          <p:cNvPr id="199" name="Text 196"/>
          <p:cNvSpPr/>
          <p:nvPr/>
        </p:nvSpPr>
        <p:spPr>
          <a:xfrm>
            <a:off x="877824" y="2606040"/>
            <a:ext cx="299008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94A3B8"/>
                </a:solidFill>
              </a:rPr>
              <a:t>Scripts, CLIs, and chatbots often need credentials, repositories, internal tools, and customer data before teams can see value.</a:t>
            </a:r>
            <a:endParaRPr lang="en-US" sz="1040" dirty="0"/>
          </a:p>
        </p:txBody>
      </p:sp>
      <p:sp>
        <p:nvSpPr>
          <p:cNvPr id="200" name="Shape 197"/>
          <p:cNvSpPr/>
          <p:nvPr/>
        </p:nvSpPr>
        <p:spPr>
          <a:xfrm>
            <a:off x="4389120" y="1993392"/>
            <a:ext cx="3401568" cy="1417320"/>
          </a:xfrm>
          <a:prstGeom prst="roundRect">
            <a:avLst>
              <a:gd name="adj" fmla="val 10323"/>
            </a:avLst>
          </a:prstGeom>
          <a:solidFill>
            <a:srgbClr val="0B0F14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4590288" y="219456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2" name="Text 199"/>
          <p:cNvSpPr/>
          <p:nvPr/>
        </p:nvSpPr>
        <p:spPr>
          <a:xfrm>
            <a:off x="4956048" y="21762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No reliable audit trail</a:t>
            </a:r>
            <a:endParaRPr lang="en-US" sz="1350" dirty="0"/>
          </a:p>
        </p:txBody>
      </p:sp>
      <p:sp>
        <p:nvSpPr>
          <p:cNvPr id="203" name="Text 200"/>
          <p:cNvSpPr/>
          <p:nvPr/>
        </p:nvSpPr>
        <p:spPr>
          <a:xfrm>
            <a:off x="4608576" y="2606040"/>
            <a:ext cx="299008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94A3B8"/>
                </a:solidFill>
              </a:rPr>
              <a:t>When something changes, teams need to know what happened, which tools ran, what files changed, and who approved it.</a:t>
            </a:r>
            <a:endParaRPr lang="en-US" sz="1040" dirty="0"/>
          </a:p>
        </p:txBody>
      </p:sp>
      <p:sp>
        <p:nvSpPr>
          <p:cNvPr id="204" name="Shape 201"/>
          <p:cNvSpPr/>
          <p:nvPr/>
        </p:nvSpPr>
        <p:spPr>
          <a:xfrm>
            <a:off x="8119872" y="1993392"/>
            <a:ext cx="3401568" cy="1417320"/>
          </a:xfrm>
          <a:prstGeom prst="roundRect">
            <a:avLst>
              <a:gd name="adj" fmla="val 10323"/>
            </a:avLst>
          </a:prstGeom>
          <a:solidFill>
            <a:srgbClr val="0B0F14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8321040" y="219456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6" name="Text 203"/>
          <p:cNvSpPr/>
          <p:nvPr/>
        </p:nvSpPr>
        <p:spPr>
          <a:xfrm>
            <a:off x="8686800" y="21762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No business owner for failure</a:t>
            </a:r>
            <a:endParaRPr lang="en-US" sz="1350" dirty="0"/>
          </a:p>
        </p:txBody>
      </p:sp>
      <p:sp>
        <p:nvSpPr>
          <p:cNvPr id="207" name="Text 204"/>
          <p:cNvSpPr/>
          <p:nvPr/>
        </p:nvSpPr>
        <p:spPr>
          <a:xfrm>
            <a:off x="8339328" y="2606040"/>
            <a:ext cx="299008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94A3B8"/>
                </a:solidFill>
              </a:rPr>
              <a:t>SMBs and enterprises want outcomes, support, permissions, and accountability — not another ungoverned automation stack.</a:t>
            </a:r>
            <a:endParaRPr lang="en-US" sz="1040" dirty="0"/>
          </a:p>
        </p:txBody>
      </p:sp>
      <p:sp>
        <p:nvSpPr>
          <p:cNvPr id="208" name="Text 205"/>
          <p:cNvSpPr/>
          <p:nvPr/>
        </p:nvSpPr>
        <p:spPr>
          <a:xfrm>
            <a:off x="713232" y="39776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The shift</a:t>
            </a:r>
            <a:endParaRPr lang="en-US" sz="1200" dirty="0"/>
          </a:p>
        </p:txBody>
      </p:sp>
      <p:sp>
        <p:nvSpPr>
          <p:cNvPr id="209" name="Shape 206"/>
          <p:cNvSpPr/>
          <p:nvPr/>
        </p:nvSpPr>
        <p:spPr>
          <a:xfrm>
            <a:off x="658368" y="4343400"/>
            <a:ext cx="4983480" cy="1078992"/>
          </a:xfrm>
          <a:prstGeom prst="roundRect">
            <a:avLst>
              <a:gd name="adj" fmla="val 13559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6565392" y="4343400"/>
            <a:ext cx="4983480" cy="1078992"/>
          </a:xfrm>
          <a:prstGeom prst="roundRect">
            <a:avLst>
              <a:gd name="adj" fmla="val 13559"/>
            </a:avLst>
          </a:prstGeom>
          <a:solidFill>
            <a:srgbClr val="071B2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211" name="Text 208"/>
          <p:cNvSpPr/>
          <p:nvPr/>
        </p:nvSpPr>
        <p:spPr>
          <a:xfrm>
            <a:off x="1005840" y="45994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Old question</a:t>
            </a:r>
            <a:endParaRPr lang="en-US" sz="1000" dirty="0"/>
          </a:p>
        </p:txBody>
      </p:sp>
      <p:sp>
        <p:nvSpPr>
          <p:cNvPr id="212" name="Text 209"/>
          <p:cNvSpPr/>
          <p:nvPr/>
        </p:nvSpPr>
        <p:spPr>
          <a:xfrm>
            <a:off x="1005840" y="487375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“Can an agent do the task?”</a:t>
            </a:r>
            <a:endParaRPr lang="en-US" sz="1800" dirty="0"/>
          </a:p>
        </p:txBody>
      </p:sp>
      <p:sp>
        <p:nvSpPr>
          <p:cNvPr id="213" name="Text 210"/>
          <p:cNvSpPr/>
          <p:nvPr/>
        </p:nvSpPr>
        <p:spPr>
          <a:xfrm>
            <a:off x="6912864" y="45994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New question</a:t>
            </a:r>
            <a:endParaRPr lang="en-US" sz="1000" dirty="0"/>
          </a:p>
        </p:txBody>
      </p:sp>
      <p:sp>
        <p:nvSpPr>
          <p:cNvPr id="214" name="Text 211"/>
          <p:cNvSpPr/>
          <p:nvPr/>
        </p:nvSpPr>
        <p:spPr>
          <a:xfrm>
            <a:off x="6912864" y="48737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</a:rPr>
              <a:t>“Can a business safely trust it?”</a:t>
            </a:r>
            <a:endParaRPr lang="en-US" sz="1800" dirty="0"/>
          </a:p>
        </p:txBody>
      </p:sp>
      <p:sp>
        <p:nvSpPr>
          <p:cNvPr id="215" name="Text 212"/>
          <p:cNvSpPr/>
          <p:nvPr/>
        </p:nvSpPr>
        <p:spPr>
          <a:xfrm>
            <a:off x="9829800" y="64739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reiops.xyz  •  2/8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4592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4592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4592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4592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4592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8600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8600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8600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2608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2608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2608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2608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2608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92608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2608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2608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92608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56616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6616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56616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6616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56616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56616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56616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6616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56616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56616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20624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0624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0624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20624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20624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20624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20624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20624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20624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20624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4632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84632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84632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84632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84632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84632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84632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84632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84632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84632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48640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48640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48640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48640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48640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48640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48640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48640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48640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48640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12648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12648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12648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12648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12648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12648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12648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12648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12648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12648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76656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76656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76656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76656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76656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76656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76656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76656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76656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40664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40664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40664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40664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40664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40664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0664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0664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40664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40664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04672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04672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04672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04672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04672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04672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04672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04672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04672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04672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68680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68680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68680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68680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68680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68680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68680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68680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68680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68680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32688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32688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32688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32688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932688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932688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32688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32688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32688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32688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996696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96696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96696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96696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996696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996696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96696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96696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996696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96696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060704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060704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060704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60704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060704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60704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060704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60704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060704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060704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124712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124712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124712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124712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124712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124712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124712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124712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124712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124712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188720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188720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1188720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188720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188720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188720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188720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188720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188720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188720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pic>
        <p:nvPicPr>
          <p:cNvPr id="192" name="Image 0" descr="/tmp/reiops-demo-public/public/brand/reiops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0896"/>
            <a:ext cx="347472" cy="347472"/>
          </a:xfrm>
          <a:prstGeom prst="rect">
            <a:avLst/>
          </a:prstGeom>
        </p:spPr>
      </p:pic>
      <p:sp>
        <p:nvSpPr>
          <p:cNvPr id="193" name="Text 190"/>
          <p:cNvSpPr/>
          <p:nvPr/>
        </p:nvSpPr>
        <p:spPr>
          <a:xfrm>
            <a:off x="960120" y="338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ReiOps</a:t>
            </a:r>
            <a:endParaRPr lang="en-US" sz="1500" dirty="0"/>
          </a:p>
        </p:txBody>
      </p:sp>
      <p:sp>
        <p:nvSpPr>
          <p:cNvPr id="194" name="Text 191"/>
          <p:cNvSpPr/>
          <p:nvPr/>
        </p:nvSpPr>
        <p:spPr>
          <a:xfrm>
            <a:off x="594360" y="71323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ReiOps packages agents as managed workflows.</a:t>
            </a:r>
            <a:endParaRPr lang="en-US" sz="3000" dirty="0"/>
          </a:p>
        </p:txBody>
      </p:sp>
      <p:sp>
        <p:nvSpPr>
          <p:cNvPr id="195" name="Text 192"/>
          <p:cNvSpPr/>
          <p:nvPr/>
        </p:nvSpPr>
        <p:spPr>
          <a:xfrm>
            <a:off x="612648" y="135331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 control plane + managed marketplace for business-ready AI agents.</a:t>
            </a:r>
            <a:endParaRPr lang="en-US" sz="1200" dirty="0"/>
          </a:p>
        </p:txBody>
      </p:sp>
      <p:sp>
        <p:nvSpPr>
          <p:cNvPr id="196" name="Shape 193"/>
          <p:cNvSpPr/>
          <p:nvPr/>
        </p:nvSpPr>
        <p:spPr>
          <a:xfrm>
            <a:off x="658368" y="2148840"/>
            <a:ext cx="1874520" cy="2148840"/>
          </a:xfrm>
          <a:prstGeom prst="roundRect">
            <a:avLst>
              <a:gd name="adj" fmla="val 7805"/>
            </a:avLst>
          </a:prstGeom>
          <a:solidFill>
            <a:srgbClr val="0B0F14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7" name="Text 194"/>
          <p:cNvSpPr/>
          <p:nvPr/>
        </p:nvSpPr>
        <p:spPr>
          <a:xfrm>
            <a:off x="822960" y="235915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</a:rPr>
              <a:t>1</a:t>
            </a:r>
            <a:endParaRPr lang="en-US" sz="1800" dirty="0"/>
          </a:p>
        </p:txBody>
      </p:sp>
      <p:sp>
        <p:nvSpPr>
          <p:cNvPr id="198" name="Text 195"/>
          <p:cNvSpPr/>
          <p:nvPr/>
        </p:nvSpPr>
        <p:spPr>
          <a:xfrm>
            <a:off x="822960" y="28163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Vetted workflow</a:t>
            </a:r>
            <a:endParaRPr lang="en-US" sz="1300" dirty="0"/>
          </a:p>
        </p:txBody>
      </p:sp>
      <p:sp>
        <p:nvSpPr>
          <p:cNvPr id="199" name="Text 196"/>
          <p:cNvSpPr/>
          <p:nvPr/>
        </p:nvSpPr>
        <p:spPr>
          <a:xfrm>
            <a:off x="822960" y="322783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94A3B8"/>
                </a:solidFill>
              </a:rPr>
              <a:t>Curated agent flows for repeatable business tasks</a:t>
            </a:r>
            <a:endParaRPr lang="en-US" sz="940" dirty="0"/>
          </a:p>
        </p:txBody>
      </p:sp>
      <p:sp>
        <p:nvSpPr>
          <p:cNvPr id="200" name="Shape 197"/>
          <p:cNvSpPr/>
          <p:nvPr/>
        </p:nvSpPr>
        <p:spPr>
          <a:xfrm>
            <a:off x="2532888" y="3218688"/>
            <a:ext cx="384048" cy="0"/>
          </a:xfrm>
          <a:prstGeom prst="line">
            <a:avLst/>
          </a:prstGeom>
          <a:noFill/>
          <a:ln w="2794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01" name="Shape 198"/>
          <p:cNvSpPr/>
          <p:nvPr/>
        </p:nvSpPr>
        <p:spPr>
          <a:xfrm>
            <a:off x="2926080" y="2148840"/>
            <a:ext cx="1874520" cy="2148840"/>
          </a:xfrm>
          <a:prstGeom prst="roundRect">
            <a:avLst>
              <a:gd name="adj" fmla="val 7805"/>
            </a:avLst>
          </a:prstGeom>
          <a:solidFill>
            <a:srgbClr val="0B0F14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2" name="Text 199"/>
          <p:cNvSpPr/>
          <p:nvPr/>
        </p:nvSpPr>
        <p:spPr>
          <a:xfrm>
            <a:off x="3090672" y="235915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</a:rPr>
              <a:t>2</a:t>
            </a:r>
            <a:endParaRPr lang="en-US" sz="1800" dirty="0"/>
          </a:p>
        </p:txBody>
      </p:sp>
      <p:sp>
        <p:nvSpPr>
          <p:cNvPr id="203" name="Text 200"/>
          <p:cNvSpPr/>
          <p:nvPr/>
        </p:nvSpPr>
        <p:spPr>
          <a:xfrm>
            <a:off x="3090672" y="28163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Secure sandbox</a:t>
            </a:r>
            <a:endParaRPr lang="en-US" sz="1300" dirty="0"/>
          </a:p>
        </p:txBody>
      </p:sp>
      <p:sp>
        <p:nvSpPr>
          <p:cNvPr id="204" name="Text 201"/>
          <p:cNvSpPr/>
          <p:nvPr/>
        </p:nvSpPr>
        <p:spPr>
          <a:xfrm>
            <a:off x="3090672" y="322783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94A3B8"/>
                </a:solidFill>
              </a:rPr>
              <a:t>Scoped execution environment and limited tool access</a:t>
            </a:r>
            <a:endParaRPr lang="en-US" sz="940" dirty="0"/>
          </a:p>
        </p:txBody>
      </p:sp>
      <p:sp>
        <p:nvSpPr>
          <p:cNvPr id="205" name="Shape 202"/>
          <p:cNvSpPr/>
          <p:nvPr/>
        </p:nvSpPr>
        <p:spPr>
          <a:xfrm>
            <a:off x="4800600" y="3218688"/>
            <a:ext cx="384048" cy="0"/>
          </a:xfrm>
          <a:prstGeom prst="line">
            <a:avLst/>
          </a:prstGeom>
          <a:noFill/>
          <a:ln w="2794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06" name="Shape 203"/>
          <p:cNvSpPr/>
          <p:nvPr/>
        </p:nvSpPr>
        <p:spPr>
          <a:xfrm>
            <a:off x="5193792" y="2148840"/>
            <a:ext cx="1874520" cy="2148840"/>
          </a:xfrm>
          <a:prstGeom prst="roundRect">
            <a:avLst>
              <a:gd name="adj" fmla="val 7805"/>
            </a:avLst>
          </a:prstGeom>
          <a:solidFill>
            <a:srgbClr val="0B0F14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7" name="Text 204"/>
          <p:cNvSpPr/>
          <p:nvPr/>
        </p:nvSpPr>
        <p:spPr>
          <a:xfrm>
            <a:off x="5358384" y="235915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</a:rPr>
              <a:t>3</a:t>
            </a:r>
            <a:endParaRPr lang="en-US" sz="1800" dirty="0"/>
          </a:p>
        </p:txBody>
      </p:sp>
      <p:sp>
        <p:nvSpPr>
          <p:cNvPr id="208" name="Text 205"/>
          <p:cNvSpPr/>
          <p:nvPr/>
        </p:nvSpPr>
        <p:spPr>
          <a:xfrm>
            <a:off x="5358384" y="28163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Live trace</a:t>
            </a:r>
            <a:endParaRPr lang="en-US" sz="1300" dirty="0"/>
          </a:p>
        </p:txBody>
      </p:sp>
      <p:sp>
        <p:nvSpPr>
          <p:cNvPr id="209" name="Text 206"/>
          <p:cNvSpPr/>
          <p:nvPr/>
        </p:nvSpPr>
        <p:spPr>
          <a:xfrm>
            <a:off x="5358384" y="322783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94A3B8"/>
                </a:solidFill>
              </a:rPr>
              <a:t>Every step, file, command, cost, and decision visible</a:t>
            </a:r>
            <a:endParaRPr lang="en-US" sz="940" dirty="0"/>
          </a:p>
        </p:txBody>
      </p:sp>
      <p:sp>
        <p:nvSpPr>
          <p:cNvPr id="210" name="Shape 207"/>
          <p:cNvSpPr/>
          <p:nvPr/>
        </p:nvSpPr>
        <p:spPr>
          <a:xfrm>
            <a:off x="7068312" y="3218688"/>
            <a:ext cx="384048" cy="0"/>
          </a:xfrm>
          <a:prstGeom prst="line">
            <a:avLst/>
          </a:prstGeom>
          <a:noFill/>
          <a:ln w="2794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11" name="Shape 208"/>
          <p:cNvSpPr/>
          <p:nvPr/>
        </p:nvSpPr>
        <p:spPr>
          <a:xfrm>
            <a:off x="7461504" y="2148840"/>
            <a:ext cx="1874520" cy="2148840"/>
          </a:xfrm>
          <a:prstGeom prst="roundRect">
            <a:avLst>
              <a:gd name="adj" fmla="val 7805"/>
            </a:avLst>
          </a:prstGeom>
          <a:solidFill>
            <a:srgbClr val="0B0F1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2" name="Text 209"/>
          <p:cNvSpPr/>
          <p:nvPr/>
        </p:nvSpPr>
        <p:spPr>
          <a:xfrm>
            <a:off x="7626096" y="235915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4</a:t>
            </a:r>
            <a:endParaRPr lang="en-US" sz="1800" dirty="0"/>
          </a:p>
        </p:txBody>
      </p:sp>
      <p:sp>
        <p:nvSpPr>
          <p:cNvPr id="213" name="Text 210"/>
          <p:cNvSpPr/>
          <p:nvPr/>
        </p:nvSpPr>
        <p:spPr>
          <a:xfrm>
            <a:off x="7626096" y="28163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Approval gate</a:t>
            </a:r>
            <a:endParaRPr lang="en-US" sz="1300" dirty="0"/>
          </a:p>
        </p:txBody>
      </p:sp>
      <p:sp>
        <p:nvSpPr>
          <p:cNvPr id="214" name="Text 211"/>
          <p:cNvSpPr/>
          <p:nvPr/>
        </p:nvSpPr>
        <p:spPr>
          <a:xfrm>
            <a:off x="7626096" y="322783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94A3B8"/>
                </a:solidFill>
              </a:rPr>
              <a:t>Policy blocks risky actions until a human approves</a:t>
            </a:r>
            <a:endParaRPr lang="en-US" sz="940" dirty="0"/>
          </a:p>
        </p:txBody>
      </p:sp>
      <p:sp>
        <p:nvSpPr>
          <p:cNvPr id="215" name="Shape 212"/>
          <p:cNvSpPr/>
          <p:nvPr/>
        </p:nvSpPr>
        <p:spPr>
          <a:xfrm>
            <a:off x="9336024" y="3218688"/>
            <a:ext cx="384048" cy="0"/>
          </a:xfrm>
          <a:prstGeom prst="line">
            <a:avLst/>
          </a:prstGeom>
          <a:noFill/>
          <a:ln w="2794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216" name="Shape 213"/>
          <p:cNvSpPr/>
          <p:nvPr/>
        </p:nvSpPr>
        <p:spPr>
          <a:xfrm>
            <a:off x="9729216" y="2148840"/>
            <a:ext cx="1874520" cy="2148840"/>
          </a:xfrm>
          <a:prstGeom prst="roundRect">
            <a:avLst>
              <a:gd name="adj" fmla="val 7805"/>
            </a:avLst>
          </a:prstGeom>
          <a:solidFill>
            <a:srgbClr val="0B0F14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7" name="Text 214"/>
          <p:cNvSpPr/>
          <p:nvPr/>
        </p:nvSpPr>
        <p:spPr>
          <a:xfrm>
            <a:off x="9893808" y="235915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</a:rPr>
              <a:t>5</a:t>
            </a:r>
            <a:endParaRPr lang="en-US" sz="1800" dirty="0"/>
          </a:p>
        </p:txBody>
      </p:sp>
      <p:sp>
        <p:nvSpPr>
          <p:cNvPr id="218" name="Text 215"/>
          <p:cNvSpPr/>
          <p:nvPr/>
        </p:nvSpPr>
        <p:spPr>
          <a:xfrm>
            <a:off x="9893808" y="28163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Audit trail</a:t>
            </a:r>
            <a:endParaRPr lang="en-US" sz="1300" dirty="0"/>
          </a:p>
        </p:txBody>
      </p:sp>
      <p:sp>
        <p:nvSpPr>
          <p:cNvPr id="219" name="Text 216"/>
          <p:cNvSpPr/>
          <p:nvPr/>
        </p:nvSpPr>
        <p:spPr>
          <a:xfrm>
            <a:off x="9893808" y="322783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94A3B8"/>
                </a:solidFill>
              </a:rPr>
              <a:t>Workflow result stays reviewable and accountable</a:t>
            </a:r>
            <a:endParaRPr lang="en-US" sz="940" dirty="0"/>
          </a:p>
        </p:txBody>
      </p:sp>
      <p:sp>
        <p:nvSpPr>
          <p:cNvPr id="220" name="Shape 217"/>
          <p:cNvSpPr/>
          <p:nvPr/>
        </p:nvSpPr>
        <p:spPr>
          <a:xfrm>
            <a:off x="658368" y="4937760"/>
            <a:ext cx="10863072" cy="786384"/>
          </a:xfrm>
          <a:prstGeom prst="roundRect">
            <a:avLst>
              <a:gd name="adj" fmla="val 18605"/>
            </a:avLst>
          </a:prstGeom>
          <a:solidFill>
            <a:srgbClr val="071B2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221" name="Text 218"/>
          <p:cNvSpPr/>
          <p:nvPr/>
        </p:nvSpPr>
        <p:spPr>
          <a:xfrm>
            <a:off x="987552" y="5193792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GTM wedge: start as a tech-enabled service, productize repeatable deployments into a managed agent workflow marketplace.</a:t>
            </a:r>
            <a:endParaRPr lang="en-US" sz="1400" dirty="0"/>
          </a:p>
        </p:txBody>
      </p:sp>
      <p:sp>
        <p:nvSpPr>
          <p:cNvPr id="222" name="Text 219"/>
          <p:cNvSpPr/>
          <p:nvPr/>
        </p:nvSpPr>
        <p:spPr>
          <a:xfrm>
            <a:off x="9829800" y="64739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reiops.xyz  •  3/8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4592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4592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4592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4592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4592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8600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8600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8600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2608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2608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2608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2608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2608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92608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2608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2608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92608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56616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6616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56616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6616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56616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56616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56616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6616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56616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56616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20624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0624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0624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20624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20624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20624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20624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20624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20624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20624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4632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84632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84632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84632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84632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84632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84632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84632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84632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84632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48640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48640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48640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48640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48640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48640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48640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48640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48640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48640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12648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12648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12648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12648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12648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12648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12648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12648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12648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12648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76656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76656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76656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76656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76656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76656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76656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76656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76656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40664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40664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40664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40664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40664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40664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0664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0664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40664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40664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04672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04672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04672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04672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04672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04672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04672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04672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04672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04672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68680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68680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68680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68680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68680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68680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68680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68680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68680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68680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32688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32688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32688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32688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932688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932688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32688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32688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32688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32688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996696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96696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96696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96696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996696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996696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96696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96696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996696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96696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060704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060704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060704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60704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060704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60704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060704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60704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060704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060704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124712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124712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124712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124712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124712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124712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124712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124712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124712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124712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188720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188720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1188720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188720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188720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188720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188720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188720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188720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188720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pic>
        <p:nvPicPr>
          <p:cNvPr id="192" name="Image 0" descr="/tmp/reiops-demo-public/public/brand/reiops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0896"/>
            <a:ext cx="347472" cy="347472"/>
          </a:xfrm>
          <a:prstGeom prst="rect">
            <a:avLst/>
          </a:prstGeom>
        </p:spPr>
      </p:pic>
      <p:sp>
        <p:nvSpPr>
          <p:cNvPr id="193" name="Text 190"/>
          <p:cNvSpPr/>
          <p:nvPr/>
        </p:nvSpPr>
        <p:spPr>
          <a:xfrm>
            <a:off x="960120" y="338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ReiOps</a:t>
            </a:r>
            <a:endParaRPr lang="en-US" sz="1500" dirty="0"/>
          </a:p>
        </p:txBody>
      </p:sp>
      <p:sp>
        <p:nvSpPr>
          <p:cNvPr id="194" name="Text 191"/>
          <p:cNvSpPr/>
          <p:nvPr/>
        </p:nvSpPr>
        <p:spPr>
          <a:xfrm>
            <a:off x="594360" y="71323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demo: GitHub Issue Fixer.</a:t>
            </a:r>
            <a:endParaRPr lang="en-US" sz="3000" dirty="0"/>
          </a:p>
        </p:txBody>
      </p:sp>
      <p:sp>
        <p:nvSpPr>
          <p:cNvPr id="195" name="Text 192"/>
          <p:cNvSpPr/>
          <p:nvPr/>
        </p:nvSpPr>
        <p:spPr>
          <a:xfrm>
            <a:off x="612648" y="135331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 familiar workflow that shows sandboxing, traces, approvals, and auditability.</a:t>
            </a:r>
            <a:endParaRPr lang="en-US" sz="1200" dirty="0"/>
          </a:p>
        </p:txBody>
      </p:sp>
      <p:pic>
        <p:nvPicPr>
          <p:cNvPr id="196" name="Image 1" descr="/tmp/reiops-demo-public/public/screenshots/landing-her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5166360" cy="2907792"/>
          </a:xfrm>
          <a:prstGeom prst="rect">
            <a:avLst/>
          </a:prstGeom>
        </p:spPr>
      </p:pic>
      <p:sp>
        <p:nvSpPr>
          <p:cNvPr id="197" name="Shape 193"/>
          <p:cNvSpPr/>
          <p:nvPr/>
        </p:nvSpPr>
        <p:spPr>
          <a:xfrm>
            <a:off x="6199632" y="1965960"/>
            <a:ext cx="5321808" cy="2907792"/>
          </a:xfrm>
          <a:prstGeom prst="roundRect">
            <a:avLst>
              <a:gd name="adj" fmla="val 5031"/>
            </a:avLst>
          </a:prstGeom>
          <a:solidFill>
            <a:srgbClr val="0B0F14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8" name="Shape 194"/>
          <p:cNvSpPr/>
          <p:nvPr/>
        </p:nvSpPr>
        <p:spPr>
          <a:xfrm>
            <a:off x="6510528" y="22402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9" name="Text 195"/>
          <p:cNvSpPr/>
          <p:nvPr/>
        </p:nvSpPr>
        <p:spPr>
          <a:xfrm>
            <a:off x="6839712" y="222199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Input</a:t>
            </a:r>
            <a:endParaRPr lang="en-US" sz="1050" dirty="0"/>
          </a:p>
        </p:txBody>
      </p:sp>
      <p:sp>
        <p:nvSpPr>
          <p:cNvPr id="200" name="Text 196"/>
          <p:cNvSpPr/>
          <p:nvPr/>
        </p:nvSpPr>
        <p:spPr>
          <a:xfrm>
            <a:off x="7818120" y="22219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94A3B8"/>
                </a:solidFill>
              </a:rPr>
              <a:t>GitHub Issue #128: flaky login timeout test</a:t>
            </a:r>
            <a:endParaRPr lang="en-US" sz="1020" dirty="0"/>
          </a:p>
        </p:txBody>
      </p:sp>
      <p:sp>
        <p:nvSpPr>
          <p:cNvPr id="201" name="Shape 197"/>
          <p:cNvSpPr/>
          <p:nvPr/>
        </p:nvSpPr>
        <p:spPr>
          <a:xfrm>
            <a:off x="6510528" y="271576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2" name="Text 198"/>
          <p:cNvSpPr/>
          <p:nvPr/>
        </p:nvSpPr>
        <p:spPr>
          <a:xfrm>
            <a:off x="6839712" y="26974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Execution</a:t>
            </a:r>
            <a:endParaRPr lang="en-US" sz="1050" dirty="0"/>
          </a:p>
        </p:txBody>
      </p:sp>
      <p:sp>
        <p:nvSpPr>
          <p:cNvPr id="203" name="Text 199"/>
          <p:cNvSpPr/>
          <p:nvPr/>
        </p:nvSpPr>
        <p:spPr>
          <a:xfrm>
            <a:off x="7818120" y="26974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94A3B8"/>
                </a:solidFill>
              </a:rPr>
              <a:t>Agent inspects code, edits files, runs tests</a:t>
            </a:r>
            <a:endParaRPr lang="en-US" sz="1020" dirty="0"/>
          </a:p>
        </p:txBody>
      </p:sp>
      <p:sp>
        <p:nvSpPr>
          <p:cNvPr id="204" name="Shape 200"/>
          <p:cNvSpPr/>
          <p:nvPr/>
        </p:nvSpPr>
        <p:spPr>
          <a:xfrm>
            <a:off x="6510528" y="319125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5" name="Text 201"/>
          <p:cNvSpPr/>
          <p:nvPr/>
        </p:nvSpPr>
        <p:spPr>
          <a:xfrm>
            <a:off x="6839712" y="317296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Policy</a:t>
            </a:r>
            <a:endParaRPr lang="en-US" sz="1050" dirty="0"/>
          </a:p>
        </p:txBody>
      </p:sp>
      <p:sp>
        <p:nvSpPr>
          <p:cNvPr id="206" name="Text 202"/>
          <p:cNvSpPr/>
          <p:nvPr/>
        </p:nvSpPr>
        <p:spPr>
          <a:xfrm>
            <a:off x="7818120" y="31729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94A3B8"/>
                </a:solidFill>
              </a:rPr>
              <a:t>Touches auth/session logic → PR creation blocked</a:t>
            </a:r>
            <a:endParaRPr lang="en-US" sz="1020" dirty="0"/>
          </a:p>
        </p:txBody>
      </p:sp>
      <p:sp>
        <p:nvSpPr>
          <p:cNvPr id="207" name="Shape 203"/>
          <p:cNvSpPr/>
          <p:nvPr/>
        </p:nvSpPr>
        <p:spPr>
          <a:xfrm>
            <a:off x="6510528" y="366674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8" name="Text 204"/>
          <p:cNvSpPr/>
          <p:nvPr/>
        </p:nvSpPr>
        <p:spPr>
          <a:xfrm>
            <a:off x="6839712" y="364845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Approval</a:t>
            </a:r>
            <a:endParaRPr lang="en-US" sz="1050" dirty="0"/>
          </a:p>
        </p:txBody>
      </p:sp>
      <p:sp>
        <p:nvSpPr>
          <p:cNvPr id="209" name="Text 205"/>
          <p:cNvSpPr/>
          <p:nvPr/>
        </p:nvSpPr>
        <p:spPr>
          <a:xfrm>
            <a:off x="7818120" y="36484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94A3B8"/>
                </a:solidFill>
              </a:rPr>
              <a:t>Human approves from web dashboard or Telegram</a:t>
            </a:r>
            <a:endParaRPr lang="en-US" sz="1020" dirty="0"/>
          </a:p>
        </p:txBody>
      </p:sp>
      <p:sp>
        <p:nvSpPr>
          <p:cNvPr id="210" name="Shape 206"/>
          <p:cNvSpPr/>
          <p:nvPr/>
        </p:nvSpPr>
        <p:spPr>
          <a:xfrm>
            <a:off x="6510528" y="414223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1" name="Text 207"/>
          <p:cNvSpPr/>
          <p:nvPr/>
        </p:nvSpPr>
        <p:spPr>
          <a:xfrm>
            <a:off x="6839712" y="412394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Output</a:t>
            </a:r>
            <a:endParaRPr lang="en-US" sz="1050" dirty="0"/>
          </a:p>
        </p:txBody>
      </p:sp>
      <p:sp>
        <p:nvSpPr>
          <p:cNvPr id="212" name="Text 208"/>
          <p:cNvSpPr/>
          <p:nvPr/>
        </p:nvSpPr>
        <p:spPr>
          <a:xfrm>
            <a:off x="7818120" y="41239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94A3B8"/>
                </a:solidFill>
              </a:rPr>
              <a:t>PR result + trace stored as audit trail</a:t>
            </a:r>
            <a:endParaRPr lang="en-US" sz="1020" dirty="0"/>
          </a:p>
        </p:txBody>
      </p:sp>
      <p:sp>
        <p:nvSpPr>
          <p:cNvPr id="213" name="Text 209"/>
          <p:cNvSpPr/>
          <p:nvPr/>
        </p:nvSpPr>
        <p:spPr>
          <a:xfrm>
            <a:off x="749808" y="5138928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This is a simulated public demo — no production repository is modified.</a:t>
            </a:r>
            <a:endParaRPr lang="en-US" sz="1050" dirty="0"/>
          </a:p>
        </p:txBody>
      </p:sp>
      <p:sp>
        <p:nvSpPr>
          <p:cNvPr id="214" name="Text 210"/>
          <p:cNvSpPr/>
          <p:nvPr/>
        </p:nvSpPr>
        <p:spPr>
          <a:xfrm>
            <a:off x="9829800" y="64739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reiops.xyz  •  4/8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4592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4592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4592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4592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4592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8600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8600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8600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2608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2608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2608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2608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2608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92608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2608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2608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92608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56616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6616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56616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6616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56616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56616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56616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6616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56616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56616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20624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0624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0624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20624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20624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20624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20624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20624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20624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20624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4632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84632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84632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84632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84632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84632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84632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84632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84632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84632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48640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48640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48640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48640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48640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48640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48640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48640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48640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48640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12648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12648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12648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12648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12648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12648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12648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12648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12648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12648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76656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76656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76656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76656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76656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76656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76656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76656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76656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40664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40664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40664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40664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40664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40664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0664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0664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40664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40664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04672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04672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04672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04672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04672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04672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04672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04672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04672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04672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68680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68680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68680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68680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68680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68680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68680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68680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68680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68680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32688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32688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32688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32688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932688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932688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32688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32688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32688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32688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996696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96696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96696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96696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996696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996696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96696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96696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996696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96696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060704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060704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060704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60704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060704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60704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060704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60704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060704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060704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124712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124712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124712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124712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124712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124712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124712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124712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124712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124712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188720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188720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1188720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188720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188720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188720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188720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188720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188720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188720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pic>
        <p:nvPicPr>
          <p:cNvPr id="192" name="Image 0" descr="/tmp/reiops-demo-public/public/brand/reiops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0896"/>
            <a:ext cx="347472" cy="347472"/>
          </a:xfrm>
          <a:prstGeom prst="rect">
            <a:avLst/>
          </a:prstGeom>
        </p:spPr>
      </p:pic>
      <p:sp>
        <p:nvSpPr>
          <p:cNvPr id="193" name="Text 190"/>
          <p:cNvSpPr/>
          <p:nvPr/>
        </p:nvSpPr>
        <p:spPr>
          <a:xfrm>
            <a:off x="960120" y="338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ReiOps</a:t>
            </a:r>
            <a:endParaRPr lang="en-US" sz="1500" dirty="0"/>
          </a:p>
        </p:txBody>
      </p:sp>
      <p:sp>
        <p:nvSpPr>
          <p:cNvPr id="194" name="Text 191"/>
          <p:cNvSpPr/>
          <p:nvPr/>
        </p:nvSpPr>
        <p:spPr>
          <a:xfrm>
            <a:off x="594360" y="71323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now: agent supply is exploding.</a:t>
            </a:r>
            <a:endParaRPr lang="en-US" sz="3000" dirty="0"/>
          </a:p>
        </p:txBody>
      </p:sp>
      <p:sp>
        <p:nvSpPr>
          <p:cNvPr id="195" name="Text 192"/>
          <p:cNvSpPr/>
          <p:nvPr/>
        </p:nvSpPr>
        <p:spPr>
          <a:xfrm>
            <a:off x="612648" y="135331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The adoption bottleneck moves from model capability to business trust and operations.</a:t>
            </a:r>
            <a:endParaRPr lang="en-US" sz="1200" dirty="0"/>
          </a:p>
        </p:txBody>
      </p:sp>
      <p:sp>
        <p:nvSpPr>
          <p:cNvPr id="196" name="Shape 193"/>
          <p:cNvSpPr/>
          <p:nvPr/>
        </p:nvSpPr>
        <p:spPr>
          <a:xfrm>
            <a:off x="713232" y="2011680"/>
            <a:ext cx="3246120" cy="1600200"/>
          </a:xfrm>
          <a:prstGeom prst="roundRect">
            <a:avLst>
              <a:gd name="adj" fmla="val 9143"/>
            </a:avLst>
          </a:prstGeom>
          <a:solidFill>
            <a:srgbClr val="0B0F14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914400" y="22128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8" name="Text 195"/>
          <p:cNvSpPr/>
          <p:nvPr/>
        </p:nvSpPr>
        <p:spPr>
          <a:xfrm>
            <a:off x="1280160" y="2194560"/>
            <a:ext cx="2496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Open-source agents</a:t>
            </a:r>
            <a:endParaRPr lang="en-US" sz="1350" dirty="0"/>
          </a:p>
        </p:txBody>
      </p:sp>
      <p:sp>
        <p:nvSpPr>
          <p:cNvPr id="199" name="Text 196"/>
          <p:cNvSpPr/>
          <p:nvPr/>
        </p:nvSpPr>
        <p:spPr>
          <a:xfrm>
            <a:off x="932688" y="2624328"/>
            <a:ext cx="283464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94A3B8"/>
                </a:solidFill>
              </a:rPr>
              <a:t>Every team will have access to capable agent frameworks and coding assistants.</a:t>
            </a:r>
            <a:endParaRPr lang="en-US" sz="1040" dirty="0"/>
          </a:p>
        </p:txBody>
      </p:sp>
      <p:sp>
        <p:nvSpPr>
          <p:cNvPr id="200" name="Shape 197"/>
          <p:cNvSpPr/>
          <p:nvPr/>
        </p:nvSpPr>
        <p:spPr>
          <a:xfrm>
            <a:off x="4443984" y="2011680"/>
            <a:ext cx="3246120" cy="1600200"/>
          </a:xfrm>
          <a:prstGeom prst="roundRect">
            <a:avLst>
              <a:gd name="adj" fmla="val 9143"/>
            </a:avLst>
          </a:prstGeom>
          <a:solidFill>
            <a:srgbClr val="0B0F14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4645152" y="22128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2" name="Text 199"/>
          <p:cNvSpPr/>
          <p:nvPr/>
        </p:nvSpPr>
        <p:spPr>
          <a:xfrm>
            <a:off x="5010912" y="2194560"/>
            <a:ext cx="2496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Tool access grows</a:t>
            </a:r>
            <a:endParaRPr lang="en-US" sz="1350" dirty="0"/>
          </a:p>
        </p:txBody>
      </p:sp>
      <p:sp>
        <p:nvSpPr>
          <p:cNvPr id="203" name="Text 200"/>
          <p:cNvSpPr/>
          <p:nvPr/>
        </p:nvSpPr>
        <p:spPr>
          <a:xfrm>
            <a:off x="4663440" y="2624328"/>
            <a:ext cx="283464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94A3B8"/>
                </a:solidFill>
              </a:rPr>
              <a:t>Agents increasingly connect to repos, SaaS apps, CRMs, infra, and internal data.</a:t>
            </a:r>
            <a:endParaRPr lang="en-US" sz="1040" dirty="0"/>
          </a:p>
        </p:txBody>
      </p:sp>
      <p:sp>
        <p:nvSpPr>
          <p:cNvPr id="204" name="Shape 201"/>
          <p:cNvSpPr/>
          <p:nvPr/>
        </p:nvSpPr>
        <p:spPr>
          <a:xfrm>
            <a:off x="8174736" y="2011680"/>
            <a:ext cx="3246120" cy="1600200"/>
          </a:xfrm>
          <a:prstGeom prst="roundRect">
            <a:avLst>
              <a:gd name="adj" fmla="val 9143"/>
            </a:avLst>
          </a:prstGeom>
          <a:solidFill>
            <a:srgbClr val="0B0F14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8375904" y="22128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6" name="Text 203"/>
          <p:cNvSpPr/>
          <p:nvPr/>
        </p:nvSpPr>
        <p:spPr>
          <a:xfrm>
            <a:off x="8741664" y="2194560"/>
            <a:ext cx="2496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Business risk grows</a:t>
            </a:r>
            <a:endParaRPr lang="en-US" sz="1350" dirty="0"/>
          </a:p>
        </p:txBody>
      </p:sp>
      <p:sp>
        <p:nvSpPr>
          <p:cNvPr id="207" name="Text 204"/>
          <p:cNvSpPr/>
          <p:nvPr/>
        </p:nvSpPr>
        <p:spPr>
          <a:xfrm>
            <a:off x="8394192" y="2624328"/>
            <a:ext cx="283464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94A3B8"/>
                </a:solidFill>
              </a:rPr>
              <a:t>More capability means more need for permissions, approvals, logs, cost controls, and support.</a:t>
            </a:r>
            <a:endParaRPr lang="en-US" sz="1040" dirty="0"/>
          </a:p>
        </p:txBody>
      </p:sp>
      <p:sp>
        <p:nvSpPr>
          <p:cNvPr id="208" name="Shape 205"/>
          <p:cNvSpPr/>
          <p:nvPr/>
        </p:nvSpPr>
        <p:spPr>
          <a:xfrm>
            <a:off x="1051560" y="4343400"/>
            <a:ext cx="10104120" cy="960120"/>
          </a:xfrm>
          <a:prstGeom prst="roundRect">
            <a:avLst>
              <a:gd name="adj" fmla="val 15238"/>
            </a:avLst>
          </a:prstGeom>
          <a:solidFill>
            <a:srgbClr val="071B2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209" name="Text 206"/>
          <p:cNvSpPr/>
          <p:nvPr/>
        </p:nvSpPr>
        <p:spPr>
          <a:xfrm>
            <a:off x="1417320" y="45994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ReiOps is not betting that one agent wins.</a:t>
            </a:r>
            <a:endParaRPr lang="en-US" sz="1700" dirty="0"/>
          </a:p>
        </p:txBody>
      </p:sp>
      <p:sp>
        <p:nvSpPr>
          <p:cNvPr id="210" name="Text 207"/>
          <p:cNvSpPr/>
          <p:nvPr/>
        </p:nvSpPr>
        <p:spPr>
          <a:xfrm>
            <a:off x="5577840" y="4617720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</a:rPr>
              <a:t>We are betting that every business needs a trusted layer to run many agents safely.</a:t>
            </a:r>
            <a:endParaRPr lang="en-US" sz="1350" dirty="0"/>
          </a:p>
        </p:txBody>
      </p:sp>
      <p:sp>
        <p:nvSpPr>
          <p:cNvPr id="211" name="Text 208"/>
          <p:cNvSpPr/>
          <p:nvPr/>
        </p:nvSpPr>
        <p:spPr>
          <a:xfrm>
            <a:off x="9829800" y="64739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reiops.xyz  •  5/8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4592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4592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4592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4592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4592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8600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8600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8600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2608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2608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2608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2608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2608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92608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2608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2608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92608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56616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6616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56616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6616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56616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56616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56616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6616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56616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56616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20624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0624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0624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20624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20624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20624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20624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20624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20624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20624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4632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84632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84632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84632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84632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84632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84632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84632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84632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84632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48640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48640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48640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48640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48640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48640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48640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48640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48640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48640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12648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12648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12648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12648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12648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12648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12648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12648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12648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12648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76656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76656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76656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76656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76656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76656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76656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76656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76656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40664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40664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40664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40664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40664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40664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0664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0664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40664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40664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04672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04672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04672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04672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04672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04672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04672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04672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04672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04672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68680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68680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68680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68680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68680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68680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68680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68680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68680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68680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32688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32688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32688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32688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932688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932688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32688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32688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32688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32688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996696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96696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96696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96696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996696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996696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96696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96696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996696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96696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060704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060704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060704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60704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060704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60704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060704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60704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060704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060704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124712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124712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124712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124712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124712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124712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124712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124712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124712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124712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188720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188720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1188720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188720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188720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188720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188720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188720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188720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188720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pic>
        <p:nvPicPr>
          <p:cNvPr id="192" name="Image 0" descr="/tmp/reiops-demo-public/public/brand/reiops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0896"/>
            <a:ext cx="347472" cy="347472"/>
          </a:xfrm>
          <a:prstGeom prst="rect">
            <a:avLst/>
          </a:prstGeom>
        </p:spPr>
      </p:pic>
      <p:sp>
        <p:nvSpPr>
          <p:cNvPr id="193" name="Text 190"/>
          <p:cNvSpPr/>
          <p:nvPr/>
        </p:nvSpPr>
        <p:spPr>
          <a:xfrm>
            <a:off x="960120" y="338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ReiOps</a:t>
            </a:r>
            <a:endParaRPr lang="en-US" sz="1500" dirty="0"/>
          </a:p>
        </p:txBody>
      </p:sp>
      <p:sp>
        <p:nvSpPr>
          <p:cNvPr id="194" name="Text 191"/>
          <p:cNvSpPr/>
          <p:nvPr/>
        </p:nvSpPr>
        <p:spPr>
          <a:xfrm>
            <a:off x="594360" y="71323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model: managed workflows first, platform second.</a:t>
            </a:r>
            <a:endParaRPr lang="en-US" sz="3000" dirty="0"/>
          </a:p>
        </p:txBody>
      </p:sp>
      <p:sp>
        <p:nvSpPr>
          <p:cNvPr id="195" name="Text 192"/>
          <p:cNvSpPr/>
          <p:nvPr/>
        </p:nvSpPr>
        <p:spPr>
          <a:xfrm>
            <a:off x="612648" y="135331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Start close to customers; productize what repeats.</a:t>
            </a:r>
            <a:endParaRPr lang="en-US" sz="1200" dirty="0"/>
          </a:p>
        </p:txBody>
      </p:sp>
      <p:sp>
        <p:nvSpPr>
          <p:cNvPr id="196" name="Shape 193"/>
          <p:cNvSpPr/>
          <p:nvPr/>
        </p:nvSpPr>
        <p:spPr>
          <a:xfrm>
            <a:off x="685800" y="1828800"/>
            <a:ext cx="3383280" cy="1828800"/>
          </a:xfrm>
          <a:prstGeom prst="roundRect">
            <a:avLst>
              <a:gd name="adj" fmla="val 8000"/>
            </a:avLst>
          </a:prstGeom>
          <a:solidFill>
            <a:srgbClr val="0B0F14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886968" y="202996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8" name="Text 195"/>
          <p:cNvSpPr/>
          <p:nvPr/>
        </p:nvSpPr>
        <p:spPr>
          <a:xfrm>
            <a:off x="1252728" y="2011680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SMB managed workflows</a:t>
            </a:r>
            <a:endParaRPr lang="en-US" sz="1350" dirty="0"/>
          </a:p>
        </p:txBody>
      </p:sp>
      <p:sp>
        <p:nvSpPr>
          <p:cNvPr id="199" name="Text 196"/>
          <p:cNvSpPr/>
          <p:nvPr/>
        </p:nvSpPr>
        <p:spPr>
          <a:xfrm>
            <a:off x="905256" y="2441448"/>
            <a:ext cx="297180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94A3B8"/>
                </a:solidFill>
              </a:rPr>
              <a:t>Monthly managed packages for common workflows: issue fixing, support drafts, research, invoices, internal ops.</a:t>
            </a:r>
            <a:endParaRPr lang="en-US" sz="1040" dirty="0"/>
          </a:p>
        </p:txBody>
      </p:sp>
      <p:sp>
        <p:nvSpPr>
          <p:cNvPr id="200" name="Shape 197"/>
          <p:cNvSpPr/>
          <p:nvPr/>
        </p:nvSpPr>
        <p:spPr>
          <a:xfrm>
            <a:off x="4407408" y="1828800"/>
            <a:ext cx="3383280" cy="1828800"/>
          </a:xfrm>
          <a:prstGeom prst="roundRect">
            <a:avLst>
              <a:gd name="adj" fmla="val 8000"/>
            </a:avLst>
          </a:prstGeom>
          <a:solidFill>
            <a:srgbClr val="0B0F14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4608576" y="202996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2" name="Text 199"/>
          <p:cNvSpPr/>
          <p:nvPr/>
        </p:nvSpPr>
        <p:spPr>
          <a:xfrm>
            <a:off x="4974336" y="2011680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Enterprise deployments</a:t>
            </a:r>
            <a:endParaRPr lang="en-US" sz="1350" dirty="0"/>
          </a:p>
        </p:txBody>
      </p:sp>
      <p:sp>
        <p:nvSpPr>
          <p:cNvPr id="203" name="Text 200"/>
          <p:cNvSpPr/>
          <p:nvPr/>
        </p:nvSpPr>
        <p:spPr>
          <a:xfrm>
            <a:off x="4626864" y="2441448"/>
            <a:ext cx="297180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94A3B8"/>
                </a:solidFill>
              </a:rPr>
              <a:t>Custom agent workflows with sandbox profiles, policy gates, audit logs, integrations, support, and SLA.</a:t>
            </a:r>
            <a:endParaRPr lang="en-US" sz="1040" dirty="0"/>
          </a:p>
        </p:txBody>
      </p:sp>
      <p:sp>
        <p:nvSpPr>
          <p:cNvPr id="204" name="Shape 201"/>
          <p:cNvSpPr/>
          <p:nvPr/>
        </p:nvSpPr>
        <p:spPr>
          <a:xfrm>
            <a:off x="8129016" y="1828800"/>
            <a:ext cx="3383280" cy="1828800"/>
          </a:xfrm>
          <a:prstGeom prst="roundRect">
            <a:avLst>
              <a:gd name="adj" fmla="val 8000"/>
            </a:avLst>
          </a:prstGeom>
          <a:solidFill>
            <a:srgbClr val="0B0F14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8330184" y="202996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6" name="Text 203"/>
          <p:cNvSpPr/>
          <p:nvPr/>
        </p:nvSpPr>
        <p:spPr>
          <a:xfrm>
            <a:off x="8695944" y="2011680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Marketplace take rate</a:t>
            </a:r>
            <a:endParaRPr lang="en-US" sz="1350" dirty="0"/>
          </a:p>
        </p:txBody>
      </p:sp>
      <p:sp>
        <p:nvSpPr>
          <p:cNvPr id="207" name="Text 204"/>
          <p:cNvSpPr/>
          <p:nvPr/>
        </p:nvSpPr>
        <p:spPr>
          <a:xfrm>
            <a:off x="8348472" y="2441448"/>
            <a:ext cx="297180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94A3B8"/>
                </a:solidFill>
              </a:rPr>
              <a:t>Long-term curated distribution layer where vetted builders publish business-ready workflows on ReiOps.</a:t>
            </a:r>
            <a:endParaRPr lang="en-US" sz="1040" dirty="0"/>
          </a:p>
        </p:txBody>
      </p:sp>
      <p:sp>
        <p:nvSpPr>
          <p:cNvPr id="208" name="Shape 205"/>
          <p:cNvSpPr/>
          <p:nvPr/>
        </p:nvSpPr>
        <p:spPr>
          <a:xfrm>
            <a:off x="2423160" y="4434840"/>
            <a:ext cx="731520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09" name="Shape 206"/>
          <p:cNvSpPr/>
          <p:nvPr/>
        </p:nvSpPr>
        <p:spPr>
          <a:xfrm>
            <a:off x="1280160" y="4224528"/>
            <a:ext cx="438912" cy="43891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0" name="Text 207"/>
          <p:cNvSpPr/>
          <p:nvPr/>
        </p:nvSpPr>
        <p:spPr>
          <a:xfrm>
            <a:off x="713232" y="48006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8FAFC"/>
                </a:solidFill>
              </a:rPr>
              <a:t>Service learning</a:t>
            </a:r>
            <a:endParaRPr lang="en-US" sz="960" dirty="0"/>
          </a:p>
        </p:txBody>
      </p:sp>
      <p:sp>
        <p:nvSpPr>
          <p:cNvPr id="211" name="Shape 208"/>
          <p:cNvSpPr/>
          <p:nvPr/>
        </p:nvSpPr>
        <p:spPr>
          <a:xfrm>
            <a:off x="4023360" y="4224528"/>
            <a:ext cx="438912" cy="43891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2" name="Text 209"/>
          <p:cNvSpPr/>
          <p:nvPr/>
        </p:nvSpPr>
        <p:spPr>
          <a:xfrm>
            <a:off x="3456432" y="48006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8FAFC"/>
                </a:solidFill>
              </a:rPr>
              <a:t>Repeatable templates</a:t>
            </a:r>
            <a:endParaRPr lang="en-US" sz="960" dirty="0"/>
          </a:p>
        </p:txBody>
      </p:sp>
      <p:sp>
        <p:nvSpPr>
          <p:cNvPr id="213" name="Shape 210"/>
          <p:cNvSpPr/>
          <p:nvPr/>
        </p:nvSpPr>
        <p:spPr>
          <a:xfrm>
            <a:off x="6766560" y="4224528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4" name="Text 211"/>
          <p:cNvSpPr/>
          <p:nvPr/>
        </p:nvSpPr>
        <p:spPr>
          <a:xfrm>
            <a:off x="6199632" y="48006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8FAFC"/>
                </a:solidFill>
              </a:rPr>
              <a:t>Control plane</a:t>
            </a:r>
            <a:endParaRPr lang="en-US" sz="960" dirty="0"/>
          </a:p>
        </p:txBody>
      </p:sp>
      <p:sp>
        <p:nvSpPr>
          <p:cNvPr id="215" name="Shape 212"/>
          <p:cNvSpPr/>
          <p:nvPr/>
        </p:nvSpPr>
        <p:spPr>
          <a:xfrm>
            <a:off x="9509760" y="4224528"/>
            <a:ext cx="438912" cy="43891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6" name="Text 213"/>
          <p:cNvSpPr/>
          <p:nvPr/>
        </p:nvSpPr>
        <p:spPr>
          <a:xfrm>
            <a:off x="8942832" y="48006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8FAFC"/>
                </a:solidFill>
              </a:rPr>
              <a:t>Marketplace</a:t>
            </a:r>
            <a:endParaRPr lang="en-US" sz="960" dirty="0"/>
          </a:p>
        </p:txBody>
      </p:sp>
      <p:sp>
        <p:nvSpPr>
          <p:cNvPr id="217" name="Text 214"/>
          <p:cNvSpPr/>
          <p:nvPr/>
        </p:nvSpPr>
        <p:spPr>
          <a:xfrm>
            <a:off x="9829800" y="64739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reiops.xyz  •  6/8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4592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4592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4592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4592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4592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8600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8600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8600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2608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2608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2608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2608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2608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92608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2608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2608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92608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56616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6616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56616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6616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56616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56616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56616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6616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56616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56616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20624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0624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0624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20624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20624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20624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20624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20624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20624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20624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4632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84632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84632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84632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84632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84632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84632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84632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84632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84632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48640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48640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48640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48640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48640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48640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48640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48640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48640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48640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12648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12648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12648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12648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12648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12648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12648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12648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12648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12648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76656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76656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76656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76656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76656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76656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76656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76656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76656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40664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40664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40664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40664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40664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40664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0664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0664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40664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40664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04672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04672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04672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04672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04672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04672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04672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04672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04672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04672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68680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68680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68680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68680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68680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68680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68680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68680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68680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68680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32688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32688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32688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32688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932688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932688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32688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32688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32688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32688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996696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96696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96696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96696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996696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996696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96696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96696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996696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96696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060704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060704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060704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60704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060704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60704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060704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60704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060704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060704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124712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124712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124712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124712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124712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124712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124712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124712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124712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124712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188720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188720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1188720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188720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188720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188720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188720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188720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188720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188720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pic>
        <p:nvPicPr>
          <p:cNvPr id="192" name="Image 0" descr="/tmp/reiops-demo-public/public/brand/reiops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0896"/>
            <a:ext cx="347472" cy="347472"/>
          </a:xfrm>
          <a:prstGeom prst="rect">
            <a:avLst/>
          </a:prstGeom>
        </p:spPr>
      </p:pic>
      <p:sp>
        <p:nvSpPr>
          <p:cNvPr id="193" name="Text 190"/>
          <p:cNvSpPr/>
          <p:nvPr/>
        </p:nvSpPr>
        <p:spPr>
          <a:xfrm>
            <a:off x="960120" y="338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ReiOps</a:t>
            </a:r>
            <a:endParaRPr lang="en-US" sz="1500" dirty="0"/>
          </a:p>
        </p:txBody>
      </p:sp>
      <p:sp>
        <p:nvSpPr>
          <p:cNvPr id="194" name="Text 191"/>
          <p:cNvSpPr/>
          <p:nvPr/>
        </p:nvSpPr>
        <p:spPr>
          <a:xfrm>
            <a:off x="594360" y="71323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Team: technical builder + operations credibility.</a:t>
            </a:r>
            <a:endParaRPr lang="en-US" sz="3000" dirty="0"/>
          </a:p>
        </p:txBody>
      </p:sp>
      <p:sp>
        <p:nvSpPr>
          <p:cNvPr id="195" name="Text 192"/>
          <p:cNvSpPr/>
          <p:nvPr/>
        </p:nvSpPr>
        <p:spPr>
          <a:xfrm>
            <a:off x="612648" y="135331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 family team combining agent system building with real-world infrastructure operations.</a:t>
            </a:r>
            <a:endParaRPr lang="en-US" sz="1200" dirty="0"/>
          </a:p>
        </p:txBody>
      </p:sp>
      <p:sp>
        <p:nvSpPr>
          <p:cNvPr id="196" name="Shape 193"/>
          <p:cNvSpPr/>
          <p:nvPr/>
        </p:nvSpPr>
        <p:spPr>
          <a:xfrm>
            <a:off x="713232" y="1874520"/>
            <a:ext cx="5166360" cy="2240280"/>
          </a:xfrm>
          <a:prstGeom prst="roundRect">
            <a:avLst>
              <a:gd name="adj" fmla="val 6531"/>
            </a:avLst>
          </a:prstGeom>
          <a:solidFill>
            <a:srgbClr val="0B0F14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7" name="Text 194"/>
          <p:cNvSpPr/>
          <p:nvPr/>
        </p:nvSpPr>
        <p:spPr>
          <a:xfrm>
            <a:off x="1024128" y="21762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Vsevolod Malakhov</a:t>
            </a:r>
            <a:endParaRPr lang="en-US" sz="1800" dirty="0"/>
          </a:p>
        </p:txBody>
      </p:sp>
      <p:sp>
        <p:nvSpPr>
          <p:cNvPr id="198" name="Text 195"/>
          <p:cNvSpPr/>
          <p:nvPr/>
        </p:nvSpPr>
        <p:spPr>
          <a:xfrm>
            <a:off x="1042416" y="25420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</a:rPr>
              <a:t>Technical founder</a:t>
            </a:r>
            <a:endParaRPr lang="en-US" sz="1000" dirty="0"/>
          </a:p>
        </p:txBody>
      </p:sp>
      <p:sp>
        <p:nvSpPr>
          <p:cNvPr id="199" name="Text 196"/>
          <p:cNvSpPr/>
          <p:nvPr/>
        </p:nvSpPr>
        <p:spPr>
          <a:xfrm>
            <a:off x="1042416" y="2907792"/>
            <a:ext cx="4343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4A3B8"/>
                </a:solidFill>
              </a:rPr>
              <a:t>18-year-old Information Systems student at OmSU. Built Rei, a Telegram-first internal agent operating system, and previously built OpenKey, an end-to-end encrypted messenger. Focus: distributed systems, security, agent orchestration, and human-in-the-loop interfaces.</a:t>
            </a:r>
            <a:endParaRPr lang="en-US" sz="1080" dirty="0"/>
          </a:p>
        </p:txBody>
      </p:sp>
      <p:sp>
        <p:nvSpPr>
          <p:cNvPr id="200" name="Shape 197"/>
          <p:cNvSpPr/>
          <p:nvPr/>
        </p:nvSpPr>
        <p:spPr>
          <a:xfrm>
            <a:off x="6309360" y="1874520"/>
            <a:ext cx="5166360" cy="2240280"/>
          </a:xfrm>
          <a:prstGeom prst="roundRect">
            <a:avLst>
              <a:gd name="adj" fmla="val 6531"/>
            </a:avLst>
          </a:prstGeom>
          <a:solidFill>
            <a:srgbClr val="0B0F14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1" name="Text 198"/>
          <p:cNvSpPr/>
          <p:nvPr/>
        </p:nvSpPr>
        <p:spPr>
          <a:xfrm>
            <a:off x="6620256" y="21762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Vadim Solovev</a:t>
            </a:r>
            <a:endParaRPr lang="en-US" sz="1800" dirty="0"/>
          </a:p>
        </p:txBody>
      </p:sp>
      <p:sp>
        <p:nvSpPr>
          <p:cNvPr id="202" name="Text 199"/>
          <p:cNvSpPr/>
          <p:nvPr/>
        </p:nvSpPr>
        <p:spPr>
          <a:xfrm>
            <a:off x="6638544" y="254203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Operations / business lead</a:t>
            </a:r>
            <a:endParaRPr lang="en-US" sz="1000" dirty="0"/>
          </a:p>
        </p:txBody>
      </p:sp>
      <p:sp>
        <p:nvSpPr>
          <p:cNvPr id="203" name="Text 200"/>
          <p:cNvSpPr/>
          <p:nvPr/>
        </p:nvSpPr>
        <p:spPr>
          <a:xfrm>
            <a:off x="6638544" y="2907792"/>
            <a:ext cx="4343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4A3B8"/>
                </a:solidFill>
              </a:rPr>
              <a:t>15+ years across critical infrastructure, construction, consulting, and data center operations. Brings enterprise process design, budgets, stakeholder management, and real-world operational discipline.</a:t>
            </a:r>
            <a:endParaRPr lang="en-US" sz="1080" dirty="0"/>
          </a:p>
        </p:txBody>
      </p:sp>
      <p:sp>
        <p:nvSpPr>
          <p:cNvPr id="204" name="Shape 201"/>
          <p:cNvSpPr/>
          <p:nvPr/>
        </p:nvSpPr>
        <p:spPr>
          <a:xfrm>
            <a:off x="1188720" y="4617720"/>
            <a:ext cx="9802368" cy="777240"/>
          </a:xfrm>
          <a:prstGeom prst="roundRect">
            <a:avLst>
              <a:gd name="adj" fmla="val 18824"/>
            </a:avLst>
          </a:prstGeom>
          <a:solidFill>
            <a:srgbClr val="071B2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205" name="Text 202"/>
          <p:cNvSpPr/>
          <p:nvPr/>
        </p:nvSpPr>
        <p:spPr>
          <a:xfrm>
            <a:off x="1554480" y="4892040"/>
            <a:ext cx="9052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Proof today: live domain + Telegram bot + public demo repo + working web/API/bot deployment.</a:t>
            </a:r>
            <a:endParaRPr lang="en-US" sz="1400" dirty="0"/>
          </a:p>
        </p:txBody>
      </p:sp>
      <p:sp>
        <p:nvSpPr>
          <p:cNvPr id="206" name="Text 203"/>
          <p:cNvSpPr/>
          <p:nvPr/>
        </p:nvSpPr>
        <p:spPr>
          <a:xfrm>
            <a:off x="9829800" y="64739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reiops.xyz  •  7/8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4592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4592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4592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4592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4592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8600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8600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8600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2608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2608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2608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2608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2608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92608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2608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2608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92608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56616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6616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56616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6616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56616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56616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56616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6616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56616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56616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20624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0624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0624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20624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20624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20624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20624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20624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20624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20624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4632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84632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84632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84632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84632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84632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84632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84632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84632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84632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48640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48640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48640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48640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48640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48640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48640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48640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48640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48640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12648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12648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12648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12648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12648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12648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12648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12648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12648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12648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76656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76656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76656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76656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76656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76656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76656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76656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76656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40664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40664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40664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40664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40664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40664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0664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0664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40664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40664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04672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04672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04672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04672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04672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04672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04672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04672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04672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04672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68680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68680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68680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68680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68680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68680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68680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68680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68680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68680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32688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32688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32688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32688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932688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932688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32688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32688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32688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32688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996696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96696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96696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96696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996696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996696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96696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96696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996696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96696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060704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060704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060704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60704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060704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60704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060704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60704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060704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060704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124712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124712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124712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124712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124712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124712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124712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124712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124712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124712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1887200" y="3657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1887200" y="10058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11887200" y="16459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1887200" y="22860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1887200" y="29260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1887200" y="356616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1887200" y="420624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1887200" y="484632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1887200" y="548640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1887200" y="6126480"/>
            <a:ext cx="10973" cy="10973"/>
          </a:xfrm>
          <a:prstGeom prst="ellipse">
            <a:avLst/>
          </a:prstGeom>
          <a:solidFill>
            <a:srgbClr val="172033">
              <a:alpha val="82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pic>
        <p:nvPicPr>
          <p:cNvPr id="192" name="Image 0" descr="/tmp/reiops-demo-public/public/brand/reiops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0896"/>
            <a:ext cx="347472" cy="347472"/>
          </a:xfrm>
          <a:prstGeom prst="rect">
            <a:avLst/>
          </a:prstGeom>
        </p:spPr>
      </p:pic>
      <p:sp>
        <p:nvSpPr>
          <p:cNvPr id="193" name="Text 190"/>
          <p:cNvSpPr/>
          <p:nvPr/>
        </p:nvSpPr>
        <p:spPr>
          <a:xfrm>
            <a:off x="960120" y="338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ReiOps</a:t>
            </a:r>
            <a:endParaRPr lang="en-US" sz="1500" dirty="0"/>
          </a:p>
        </p:txBody>
      </p:sp>
      <p:sp>
        <p:nvSpPr>
          <p:cNvPr id="194" name="Text 191"/>
          <p:cNvSpPr/>
          <p:nvPr/>
        </p:nvSpPr>
        <p:spPr>
          <a:xfrm>
            <a:off x="594360" y="71323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are building next.</a:t>
            </a:r>
            <a:endParaRPr lang="en-US" sz="3000" dirty="0"/>
          </a:p>
        </p:txBody>
      </p:sp>
      <p:sp>
        <p:nvSpPr>
          <p:cNvPr id="195" name="Text 192"/>
          <p:cNvSpPr/>
          <p:nvPr/>
        </p:nvSpPr>
        <p:spPr>
          <a:xfrm>
            <a:off x="612648" y="135331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From prototype to design partners and repeatable managed workflows.</a:t>
            </a:r>
            <a:endParaRPr lang="en-US" sz="1200" dirty="0"/>
          </a:p>
        </p:txBody>
      </p:sp>
      <p:sp>
        <p:nvSpPr>
          <p:cNvPr id="196" name="Shape 193"/>
          <p:cNvSpPr/>
          <p:nvPr/>
        </p:nvSpPr>
        <p:spPr>
          <a:xfrm>
            <a:off x="914400" y="1783080"/>
            <a:ext cx="10287000" cy="658368"/>
          </a:xfrm>
          <a:prstGeom prst="roundRect">
            <a:avLst>
              <a:gd name="adj" fmla="val 22222"/>
            </a:avLst>
          </a:prstGeom>
          <a:solidFill>
            <a:srgbClr val="0B0F14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7" name="Text 194"/>
          <p:cNvSpPr/>
          <p:nvPr/>
        </p:nvSpPr>
        <p:spPr>
          <a:xfrm>
            <a:off x="1170432" y="194767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</a:rPr>
              <a:t>1</a:t>
            </a:r>
            <a:endParaRPr lang="en-US" sz="1700" dirty="0"/>
          </a:p>
        </p:txBody>
      </p:sp>
      <p:sp>
        <p:nvSpPr>
          <p:cNvPr id="198" name="Text 195"/>
          <p:cNvSpPr/>
          <p:nvPr/>
        </p:nvSpPr>
        <p:spPr>
          <a:xfrm>
            <a:off x="1719072" y="19476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Design partners</a:t>
            </a:r>
            <a:endParaRPr lang="en-US" sz="1300" dirty="0"/>
          </a:p>
        </p:txBody>
      </p:sp>
      <p:sp>
        <p:nvSpPr>
          <p:cNvPr id="199" name="Text 196"/>
          <p:cNvSpPr/>
          <p:nvPr/>
        </p:nvSpPr>
        <p:spPr>
          <a:xfrm>
            <a:off x="3703320" y="1956816"/>
            <a:ext cx="6995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4A3B8"/>
                </a:solidFill>
              </a:rPr>
              <a:t>Run controlled workflows with small teams that need safe automation.</a:t>
            </a:r>
            <a:endParaRPr lang="en-US" sz="1080" dirty="0"/>
          </a:p>
        </p:txBody>
      </p:sp>
      <p:sp>
        <p:nvSpPr>
          <p:cNvPr id="200" name="Shape 197"/>
          <p:cNvSpPr/>
          <p:nvPr/>
        </p:nvSpPr>
        <p:spPr>
          <a:xfrm>
            <a:off x="914400" y="2697480"/>
            <a:ext cx="10287000" cy="658368"/>
          </a:xfrm>
          <a:prstGeom prst="roundRect">
            <a:avLst>
              <a:gd name="adj" fmla="val 22222"/>
            </a:avLst>
          </a:prstGeom>
          <a:solidFill>
            <a:srgbClr val="0B0F14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1" name="Text 198"/>
          <p:cNvSpPr/>
          <p:nvPr/>
        </p:nvSpPr>
        <p:spPr>
          <a:xfrm>
            <a:off x="1170432" y="286207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</a:rPr>
              <a:t>2</a:t>
            </a:r>
            <a:endParaRPr lang="en-US" sz="1700" dirty="0"/>
          </a:p>
        </p:txBody>
      </p:sp>
      <p:sp>
        <p:nvSpPr>
          <p:cNvPr id="202" name="Text 199"/>
          <p:cNvSpPr/>
          <p:nvPr/>
        </p:nvSpPr>
        <p:spPr>
          <a:xfrm>
            <a:off x="1719072" y="28620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Real integrations</a:t>
            </a:r>
            <a:endParaRPr lang="en-US" sz="1300" dirty="0"/>
          </a:p>
        </p:txBody>
      </p:sp>
      <p:sp>
        <p:nvSpPr>
          <p:cNvPr id="203" name="Text 200"/>
          <p:cNvSpPr/>
          <p:nvPr/>
        </p:nvSpPr>
        <p:spPr>
          <a:xfrm>
            <a:off x="3703320" y="2871216"/>
            <a:ext cx="6995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4A3B8"/>
                </a:solidFill>
              </a:rPr>
              <a:t>GitHub first, then support, sales research, and internal ops workflows.</a:t>
            </a:r>
            <a:endParaRPr lang="en-US" sz="1080" dirty="0"/>
          </a:p>
        </p:txBody>
      </p:sp>
      <p:sp>
        <p:nvSpPr>
          <p:cNvPr id="204" name="Shape 201"/>
          <p:cNvSpPr/>
          <p:nvPr/>
        </p:nvSpPr>
        <p:spPr>
          <a:xfrm>
            <a:off x="914400" y="3611880"/>
            <a:ext cx="10287000" cy="658368"/>
          </a:xfrm>
          <a:prstGeom prst="roundRect">
            <a:avLst>
              <a:gd name="adj" fmla="val 22222"/>
            </a:avLst>
          </a:prstGeom>
          <a:solidFill>
            <a:srgbClr val="0B0F14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5" name="Text 202"/>
          <p:cNvSpPr/>
          <p:nvPr/>
        </p:nvSpPr>
        <p:spPr>
          <a:xfrm>
            <a:off x="1170432" y="377647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</a:rPr>
              <a:t>3</a:t>
            </a:r>
            <a:endParaRPr lang="en-US" sz="1700" dirty="0"/>
          </a:p>
        </p:txBody>
      </p:sp>
      <p:sp>
        <p:nvSpPr>
          <p:cNvPr id="206" name="Text 203"/>
          <p:cNvSpPr/>
          <p:nvPr/>
        </p:nvSpPr>
        <p:spPr>
          <a:xfrm>
            <a:off x="1719072" y="3776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Policy engine</a:t>
            </a:r>
            <a:endParaRPr lang="en-US" sz="1300" dirty="0"/>
          </a:p>
        </p:txBody>
      </p:sp>
      <p:sp>
        <p:nvSpPr>
          <p:cNvPr id="207" name="Text 204"/>
          <p:cNvSpPr/>
          <p:nvPr/>
        </p:nvSpPr>
        <p:spPr>
          <a:xfrm>
            <a:off x="3703320" y="3785616"/>
            <a:ext cx="6995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4A3B8"/>
                </a:solidFill>
              </a:rPr>
              <a:t>Configurable permissions, risky-action detection, approval roles, audit export.</a:t>
            </a:r>
            <a:endParaRPr lang="en-US" sz="1080" dirty="0"/>
          </a:p>
        </p:txBody>
      </p:sp>
      <p:sp>
        <p:nvSpPr>
          <p:cNvPr id="208" name="Shape 205"/>
          <p:cNvSpPr/>
          <p:nvPr/>
        </p:nvSpPr>
        <p:spPr>
          <a:xfrm>
            <a:off x="914400" y="4526280"/>
            <a:ext cx="10287000" cy="658368"/>
          </a:xfrm>
          <a:prstGeom prst="roundRect">
            <a:avLst>
              <a:gd name="adj" fmla="val 22222"/>
            </a:avLst>
          </a:prstGeom>
          <a:solidFill>
            <a:srgbClr val="0B0F14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9" name="Text 206"/>
          <p:cNvSpPr/>
          <p:nvPr/>
        </p:nvSpPr>
        <p:spPr>
          <a:xfrm>
            <a:off x="1170432" y="469087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</a:rPr>
              <a:t>4</a:t>
            </a:r>
            <a:endParaRPr lang="en-US" sz="1700" dirty="0"/>
          </a:p>
        </p:txBody>
      </p:sp>
      <p:sp>
        <p:nvSpPr>
          <p:cNvPr id="210" name="Text 207"/>
          <p:cNvSpPr/>
          <p:nvPr/>
        </p:nvSpPr>
        <p:spPr>
          <a:xfrm>
            <a:off x="1719072" y="46908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Managed marketplace</a:t>
            </a:r>
            <a:endParaRPr lang="en-US" sz="1300" dirty="0"/>
          </a:p>
        </p:txBody>
      </p:sp>
      <p:sp>
        <p:nvSpPr>
          <p:cNvPr id="211" name="Text 208"/>
          <p:cNvSpPr/>
          <p:nvPr/>
        </p:nvSpPr>
        <p:spPr>
          <a:xfrm>
            <a:off x="3703320" y="4700016"/>
            <a:ext cx="6995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94A3B8"/>
                </a:solidFill>
              </a:rPr>
              <a:t>Turn repeated deployments into curated business-ready agent workflows.</a:t>
            </a:r>
            <a:endParaRPr lang="en-US" sz="1080" dirty="0"/>
          </a:p>
        </p:txBody>
      </p:sp>
      <p:sp>
        <p:nvSpPr>
          <p:cNvPr id="212" name="Shape 209"/>
          <p:cNvSpPr/>
          <p:nvPr/>
        </p:nvSpPr>
        <p:spPr>
          <a:xfrm>
            <a:off x="914400" y="5623560"/>
            <a:ext cx="10287000" cy="502920"/>
          </a:xfrm>
          <a:prstGeom prst="roundRect">
            <a:avLst>
              <a:gd name="adj" fmla="val 29091"/>
            </a:avLst>
          </a:prstGeom>
          <a:solidFill>
            <a:srgbClr val="071B2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213" name="Text 210"/>
          <p:cNvSpPr/>
          <p:nvPr/>
        </p:nvSpPr>
        <p:spPr>
          <a:xfrm>
            <a:off x="1234440" y="5788152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</a:rPr>
              <a:t>ReiOps: trusted distribution and operations layer for business-ready AI agents.</a:t>
            </a:r>
            <a:endParaRPr lang="en-US" sz="1250" dirty="0"/>
          </a:p>
        </p:txBody>
      </p:sp>
      <p:sp>
        <p:nvSpPr>
          <p:cNvPr id="214" name="Text 211"/>
          <p:cNvSpPr/>
          <p:nvPr/>
        </p:nvSpPr>
        <p:spPr>
          <a:xfrm>
            <a:off x="9829800" y="647395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reiops.xyz  •  8/8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ReiOps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ReiOps — Business-ready AI agents</dc:title>
  <dc:subject>ReiOps pitch deck</dc:subject>
  <dc:creator>ReiOps</dc:creator>
  <cp:lastModifiedBy>ReiOps</cp:lastModifiedBy>
  <cp:revision>1</cp:revision>
  <dcterms:created xsi:type="dcterms:W3CDTF">2026-05-16T22:58:08Z</dcterms:created>
  <dcterms:modified xsi:type="dcterms:W3CDTF">2026-05-16T22:58:08Z</dcterms:modified>
</cp:coreProperties>
</file>